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65" r:id="rId4"/>
    <p:sldId id="263" r:id="rId5"/>
    <p:sldId id="260" r:id="rId6"/>
    <p:sldId id="264" r:id="rId7"/>
    <p:sldId id="262" r:id="rId8"/>
    <p:sldId id="261" r:id="rId9"/>
    <p:sldId id="258" r:id="rId10"/>
    <p:sldId id="25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38"/>
    <p:restoredTop sz="92534"/>
  </p:normalViewPr>
  <p:slideViewPr>
    <p:cSldViewPr snapToGrid="0" snapToObjects="1">
      <p:cViewPr>
        <p:scale>
          <a:sx n="97" d="100"/>
          <a:sy n="97" d="100"/>
        </p:scale>
        <p:origin x="400" y="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864EB3-5327-2146-872C-DCE6F8FF94D9}" type="datetimeFigureOut">
              <a:rPr lang="en-US" smtClean="0"/>
              <a:t>1/29/18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256BDB-906A-3A44-B77C-5D219B662BB0}" type="slidenum">
              <a:rPr lang="en-US" smtClean="0"/>
              <a:t>‹#›</a:t>
            </a:fld>
            <a:endParaRPr lang="en-US"/>
          </a:p>
        </p:txBody>
      </p:sp>
    </p:spTree>
    <p:extLst>
      <p:ext uri="{BB962C8B-B14F-4D97-AF65-F5344CB8AC3E}">
        <p14:creationId xmlns:p14="http://schemas.microsoft.com/office/powerpoint/2010/main" val="595334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Recent death of eleven senior citizens at a local nursing home in the aftermath of hurricane Irma. </a:t>
            </a:r>
          </a:p>
          <a:p>
            <a:r>
              <a:rPr lang="en-US" sz="1200" kern="1200" dirty="0" smtClean="0">
                <a:solidFill>
                  <a:schemeClr val="tx1"/>
                </a:solidFill>
                <a:effectLst/>
                <a:latin typeface="+mn-lt"/>
                <a:ea typeface="+mn-ea"/>
                <a:cs typeface="+mn-cs"/>
              </a:rPr>
              <a:t>The nursing home overheated due to a power outage and, supposedly, instead of calling 911 when residents became ill, the nursing staff was unable to meet the needs of their patients, and ultimately, lives were lost. There was a discrepancy between 911 response records and the nursing home staff, who claimed they had called 911. If there had been an array of temperature sensors arming a controller with event triggers (defined by a smart contract), after reaching a certain temperature threshold, a call could’ve been made to emergency responders independent of human negligence. Furthermore, all reactive temperature data and corresponding actions would have been recorded to a secure ledger that could have later been audited.</a:t>
            </a:r>
            <a:r>
              <a:rPr lang="en-US" dirty="0" smtClean="0">
                <a:effectLst/>
              </a:rPr>
              <a:t> </a:t>
            </a:r>
          </a:p>
          <a:p>
            <a:endParaRPr lang="en-US" dirty="0" smtClean="0">
              <a:effectLst/>
            </a:endParaRPr>
          </a:p>
          <a:p>
            <a:r>
              <a:rPr lang="en-US" dirty="0" smtClean="0">
                <a:effectLst/>
              </a:rPr>
              <a:t>Build a</a:t>
            </a:r>
            <a:r>
              <a:rPr lang="en-US" baseline="0" dirty="0" smtClean="0">
                <a:effectLst/>
              </a:rPr>
              <a:t> service w/ data node fleets</a:t>
            </a:r>
          </a:p>
          <a:p>
            <a:endParaRPr lang="en-US" dirty="0"/>
          </a:p>
        </p:txBody>
      </p:sp>
      <p:sp>
        <p:nvSpPr>
          <p:cNvPr id="4" name="Slide Number Placeholder 3"/>
          <p:cNvSpPr>
            <a:spLocks noGrp="1"/>
          </p:cNvSpPr>
          <p:nvPr>
            <p:ph type="sldNum" sz="quarter" idx="10"/>
          </p:nvPr>
        </p:nvSpPr>
        <p:spPr/>
        <p:txBody>
          <a:bodyPr/>
          <a:lstStyle/>
          <a:p>
            <a:fld id="{EA256BDB-906A-3A44-B77C-5D219B662BB0}" type="slidenum">
              <a:rPr lang="en-US" smtClean="0"/>
              <a:t>2</a:t>
            </a:fld>
            <a:endParaRPr lang="en-US"/>
          </a:p>
        </p:txBody>
      </p:sp>
    </p:spTree>
    <p:extLst>
      <p:ext uri="{BB962C8B-B14F-4D97-AF65-F5344CB8AC3E}">
        <p14:creationId xmlns:p14="http://schemas.microsoft.com/office/powerpoint/2010/main" val="663890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Recent death of eleven senior citizens at a local nursing home in the aftermath of hurricane Irma. </a:t>
            </a:r>
          </a:p>
          <a:p>
            <a:r>
              <a:rPr lang="en-US" sz="1200" kern="1200" dirty="0" smtClean="0">
                <a:solidFill>
                  <a:schemeClr val="tx1"/>
                </a:solidFill>
                <a:effectLst/>
                <a:latin typeface="+mn-lt"/>
                <a:ea typeface="+mn-ea"/>
                <a:cs typeface="+mn-cs"/>
              </a:rPr>
              <a:t>The nursing home overheated due to a power outage and, supposedly, instead of calling 911 when residents became ill, the nursing staff was unable to meet the needs of their patients, and ultimately, lives were lost. There was a discrepancy between 911 response records and the nursing home staff, who claimed they had called 911. If there had been an array of temperature sensors arming a controller with event triggers (defined by a smart contract), after reaching a certain temperature threshold, a call could’ve been made to emergency responders independent of human negligence. Furthermore, all reactive temperature data and corresponding actions would have been recorded to a secure ledger that could have later been audited.</a:t>
            </a:r>
            <a:r>
              <a:rPr lang="en-US" dirty="0" smtClean="0">
                <a:effectLst/>
              </a:rPr>
              <a:t> </a:t>
            </a:r>
          </a:p>
          <a:p>
            <a:endParaRPr lang="en-US" dirty="0" smtClean="0">
              <a:effectLst/>
            </a:endParaRPr>
          </a:p>
          <a:p>
            <a:r>
              <a:rPr lang="en-US" dirty="0" smtClean="0">
                <a:effectLst/>
              </a:rPr>
              <a:t>Build a</a:t>
            </a:r>
            <a:r>
              <a:rPr lang="en-US" baseline="0" dirty="0" smtClean="0">
                <a:effectLst/>
              </a:rPr>
              <a:t> service w/ data node fleets</a:t>
            </a:r>
          </a:p>
          <a:p>
            <a:endParaRPr lang="en-US" dirty="0"/>
          </a:p>
        </p:txBody>
      </p:sp>
      <p:sp>
        <p:nvSpPr>
          <p:cNvPr id="4" name="Slide Number Placeholder 3"/>
          <p:cNvSpPr>
            <a:spLocks noGrp="1"/>
          </p:cNvSpPr>
          <p:nvPr>
            <p:ph type="sldNum" sz="quarter" idx="10"/>
          </p:nvPr>
        </p:nvSpPr>
        <p:spPr/>
        <p:txBody>
          <a:bodyPr/>
          <a:lstStyle/>
          <a:p>
            <a:fld id="{EA256BDB-906A-3A44-B77C-5D219B662BB0}" type="slidenum">
              <a:rPr lang="en-US" smtClean="0"/>
              <a:t>3</a:t>
            </a:fld>
            <a:endParaRPr lang="en-US"/>
          </a:p>
        </p:txBody>
      </p:sp>
    </p:spTree>
    <p:extLst>
      <p:ext uri="{BB962C8B-B14F-4D97-AF65-F5344CB8AC3E}">
        <p14:creationId xmlns:p14="http://schemas.microsoft.com/office/powerpoint/2010/main" val="1207213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A256BDB-906A-3A44-B77C-5D219B662BB0}" type="slidenum">
              <a:rPr lang="en-US" smtClean="0"/>
              <a:t>5</a:t>
            </a:fld>
            <a:endParaRPr lang="en-US"/>
          </a:p>
        </p:txBody>
      </p:sp>
    </p:spTree>
    <p:extLst>
      <p:ext uri="{BB962C8B-B14F-4D97-AF65-F5344CB8AC3E}">
        <p14:creationId xmlns:p14="http://schemas.microsoft.com/office/powerpoint/2010/main" val="390771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625AE35-109D-294E-AD1F-FC6F2A0682AA}" type="datetimeFigureOut">
              <a:rPr lang="en-US" smtClean="0"/>
              <a:t>1/29/18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AC09D7-3BC8-7441-B6AA-34FFD9D81CAC}" type="slidenum">
              <a:rPr lang="en-US" smtClean="0"/>
              <a:t>‹#›</a:t>
            </a:fld>
            <a:endParaRPr lang="en-US"/>
          </a:p>
        </p:txBody>
      </p:sp>
    </p:spTree>
    <p:extLst>
      <p:ext uri="{BB962C8B-B14F-4D97-AF65-F5344CB8AC3E}">
        <p14:creationId xmlns:p14="http://schemas.microsoft.com/office/powerpoint/2010/main" val="408596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25AE35-109D-294E-AD1F-FC6F2A0682AA}" type="datetimeFigureOut">
              <a:rPr lang="en-US" smtClean="0"/>
              <a:t>1/29/18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AC09D7-3BC8-7441-B6AA-34FFD9D81CAC}" type="slidenum">
              <a:rPr lang="en-US" smtClean="0"/>
              <a:t>‹#›</a:t>
            </a:fld>
            <a:endParaRPr lang="en-US"/>
          </a:p>
        </p:txBody>
      </p:sp>
    </p:spTree>
    <p:extLst>
      <p:ext uri="{BB962C8B-B14F-4D97-AF65-F5344CB8AC3E}">
        <p14:creationId xmlns:p14="http://schemas.microsoft.com/office/powerpoint/2010/main" val="1616605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625AE35-109D-294E-AD1F-FC6F2A0682AA}" type="datetimeFigureOut">
              <a:rPr lang="en-US" smtClean="0"/>
              <a:t>1/29/18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AC09D7-3BC8-7441-B6AA-34FFD9D81CAC}" type="slidenum">
              <a:rPr lang="en-US" smtClean="0"/>
              <a:t>‹#›</a:t>
            </a:fld>
            <a:endParaRPr lang="en-US"/>
          </a:p>
        </p:txBody>
      </p:sp>
    </p:spTree>
    <p:extLst>
      <p:ext uri="{BB962C8B-B14F-4D97-AF65-F5344CB8AC3E}">
        <p14:creationId xmlns:p14="http://schemas.microsoft.com/office/powerpoint/2010/main" val="1833196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625AE35-109D-294E-AD1F-FC6F2A0682AA}" type="datetimeFigureOut">
              <a:rPr lang="en-US" smtClean="0"/>
              <a:t>1/29/18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AC09D7-3BC8-7441-B6AA-34FFD9D81CAC}" type="slidenum">
              <a:rPr lang="en-US" smtClean="0"/>
              <a:t>‹#›</a:t>
            </a:fld>
            <a:endParaRPr lang="en-US"/>
          </a:p>
        </p:txBody>
      </p:sp>
    </p:spTree>
    <p:extLst>
      <p:ext uri="{BB962C8B-B14F-4D97-AF65-F5344CB8AC3E}">
        <p14:creationId xmlns:p14="http://schemas.microsoft.com/office/powerpoint/2010/main" val="587876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625AE35-109D-294E-AD1F-FC6F2A0682AA}" type="datetimeFigureOut">
              <a:rPr lang="en-US" smtClean="0"/>
              <a:t>1/29/18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AC09D7-3BC8-7441-B6AA-34FFD9D81CAC}" type="slidenum">
              <a:rPr lang="en-US" smtClean="0"/>
              <a:t>‹#›</a:t>
            </a:fld>
            <a:endParaRPr lang="en-US"/>
          </a:p>
        </p:txBody>
      </p:sp>
    </p:spTree>
    <p:extLst>
      <p:ext uri="{BB962C8B-B14F-4D97-AF65-F5344CB8AC3E}">
        <p14:creationId xmlns:p14="http://schemas.microsoft.com/office/powerpoint/2010/main" val="2022298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625AE35-109D-294E-AD1F-FC6F2A0682AA}" type="datetimeFigureOut">
              <a:rPr lang="en-US" smtClean="0"/>
              <a:t>1/29/18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AC09D7-3BC8-7441-B6AA-34FFD9D81CAC}" type="slidenum">
              <a:rPr lang="en-US" smtClean="0"/>
              <a:t>‹#›</a:t>
            </a:fld>
            <a:endParaRPr lang="en-US"/>
          </a:p>
        </p:txBody>
      </p:sp>
    </p:spTree>
    <p:extLst>
      <p:ext uri="{BB962C8B-B14F-4D97-AF65-F5344CB8AC3E}">
        <p14:creationId xmlns:p14="http://schemas.microsoft.com/office/powerpoint/2010/main" val="554048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25AE35-109D-294E-AD1F-FC6F2A0682AA}" type="datetimeFigureOut">
              <a:rPr lang="en-US" smtClean="0"/>
              <a:t>1/29/18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AC09D7-3BC8-7441-B6AA-34FFD9D81CAC}" type="slidenum">
              <a:rPr lang="en-US" smtClean="0"/>
              <a:t>‹#›</a:t>
            </a:fld>
            <a:endParaRPr lang="en-US"/>
          </a:p>
        </p:txBody>
      </p:sp>
    </p:spTree>
    <p:extLst>
      <p:ext uri="{BB962C8B-B14F-4D97-AF65-F5344CB8AC3E}">
        <p14:creationId xmlns:p14="http://schemas.microsoft.com/office/powerpoint/2010/main" val="410432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25AE35-109D-294E-AD1F-FC6F2A0682AA}" type="datetimeFigureOut">
              <a:rPr lang="en-US" smtClean="0"/>
              <a:t>1/29/18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AC09D7-3BC8-7441-B6AA-34FFD9D81CAC}" type="slidenum">
              <a:rPr lang="en-US" smtClean="0"/>
              <a:t>‹#›</a:t>
            </a:fld>
            <a:endParaRPr lang="en-US"/>
          </a:p>
        </p:txBody>
      </p:sp>
    </p:spTree>
    <p:extLst>
      <p:ext uri="{BB962C8B-B14F-4D97-AF65-F5344CB8AC3E}">
        <p14:creationId xmlns:p14="http://schemas.microsoft.com/office/powerpoint/2010/main" val="426057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25AE35-109D-294E-AD1F-FC6F2A0682AA}" type="datetimeFigureOut">
              <a:rPr lang="en-US" smtClean="0"/>
              <a:t>1/29/18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AC09D7-3BC8-7441-B6AA-34FFD9D81CAC}" type="slidenum">
              <a:rPr lang="en-US" smtClean="0"/>
              <a:t>‹#›</a:t>
            </a:fld>
            <a:endParaRPr lang="en-US"/>
          </a:p>
        </p:txBody>
      </p:sp>
    </p:spTree>
    <p:extLst>
      <p:ext uri="{BB962C8B-B14F-4D97-AF65-F5344CB8AC3E}">
        <p14:creationId xmlns:p14="http://schemas.microsoft.com/office/powerpoint/2010/main" val="1039805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25AE35-109D-294E-AD1F-FC6F2A0682AA}" type="datetimeFigureOut">
              <a:rPr lang="en-US" smtClean="0"/>
              <a:t>1/29/18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AC09D7-3BC8-7441-B6AA-34FFD9D81CAC}" type="slidenum">
              <a:rPr lang="en-US" smtClean="0"/>
              <a:t>‹#›</a:t>
            </a:fld>
            <a:endParaRPr lang="en-US"/>
          </a:p>
        </p:txBody>
      </p:sp>
    </p:spTree>
    <p:extLst>
      <p:ext uri="{BB962C8B-B14F-4D97-AF65-F5344CB8AC3E}">
        <p14:creationId xmlns:p14="http://schemas.microsoft.com/office/powerpoint/2010/main" val="1941409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25AE35-109D-294E-AD1F-FC6F2A0682AA}" type="datetimeFigureOut">
              <a:rPr lang="en-US" smtClean="0"/>
              <a:t>1/29/18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AC09D7-3BC8-7441-B6AA-34FFD9D81CAC}" type="slidenum">
              <a:rPr lang="en-US" smtClean="0"/>
              <a:t>‹#›</a:t>
            </a:fld>
            <a:endParaRPr lang="en-US"/>
          </a:p>
        </p:txBody>
      </p:sp>
    </p:spTree>
    <p:extLst>
      <p:ext uri="{BB962C8B-B14F-4D97-AF65-F5344CB8AC3E}">
        <p14:creationId xmlns:p14="http://schemas.microsoft.com/office/powerpoint/2010/main" val="405673523"/>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25AE35-109D-294E-AD1F-FC6F2A0682AA}" type="datetimeFigureOut">
              <a:rPr lang="en-US" smtClean="0"/>
              <a:t>1/29/18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AC09D7-3BC8-7441-B6AA-34FFD9D81CAC}" type="slidenum">
              <a:rPr lang="en-US" smtClean="0"/>
              <a:t>‹#›</a:t>
            </a:fld>
            <a:endParaRPr lang="en-US"/>
          </a:p>
        </p:txBody>
      </p:sp>
    </p:spTree>
    <p:extLst>
      <p:ext uri="{BB962C8B-B14F-4D97-AF65-F5344CB8AC3E}">
        <p14:creationId xmlns:p14="http://schemas.microsoft.com/office/powerpoint/2010/main" val="938134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ethgasstation.info/"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chainskills.com/2017/02/24/create-a-private-ethereum-blockchain-with-iot-devices-16/"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IoT</a:t>
            </a:r>
            <a:r>
              <a:rPr lang="en-US" dirty="0" smtClean="0"/>
              <a:t> + Smart Contracts(Eth)</a:t>
            </a:r>
            <a:endParaRPr lang="en-US" dirty="0"/>
          </a:p>
        </p:txBody>
      </p:sp>
      <p:sp>
        <p:nvSpPr>
          <p:cNvPr id="3" name="Subtitle 2"/>
          <p:cNvSpPr>
            <a:spLocks noGrp="1"/>
          </p:cNvSpPr>
          <p:nvPr>
            <p:ph type="subTitle" idx="1"/>
          </p:nvPr>
        </p:nvSpPr>
        <p:spPr/>
        <p:txBody>
          <a:bodyPr>
            <a:normAutofit lnSpcReduction="10000"/>
          </a:bodyPr>
          <a:lstStyle/>
          <a:p>
            <a:r>
              <a:rPr lang="en-US" dirty="0" err="1" smtClean="0"/>
              <a:t>Blockchain</a:t>
            </a:r>
            <a:r>
              <a:rPr lang="en-US" dirty="0" smtClean="0"/>
              <a:t> Tech Research Group @MPCR</a:t>
            </a:r>
          </a:p>
          <a:p>
            <a:r>
              <a:rPr lang="en-US" dirty="0" smtClean="0"/>
              <a:t>Contributors: Océane Boulais (looking for others!)</a:t>
            </a:r>
          </a:p>
          <a:p>
            <a:r>
              <a:rPr lang="en-US" dirty="0" err="1" smtClean="0"/>
              <a:t>gitHub</a:t>
            </a:r>
            <a:r>
              <a:rPr lang="en-US" dirty="0" smtClean="0"/>
              <a:t>: </a:t>
            </a:r>
            <a:r>
              <a:rPr lang="en-US" dirty="0" smtClean="0"/>
              <a:t> </a:t>
            </a:r>
            <a:r>
              <a:rPr lang="en-US" dirty="0" err="1" smtClean="0"/>
              <a:t>tba</a:t>
            </a:r>
            <a:endParaRPr lang="en-US" dirty="0" smtClean="0"/>
          </a:p>
          <a:p>
            <a:r>
              <a:rPr lang="en-US" dirty="0" smtClean="0"/>
              <a:t>Meets: 530-730p, Wednesdays @MPCR lab</a:t>
            </a:r>
            <a:endParaRPr lang="en-US" dirty="0"/>
          </a:p>
        </p:txBody>
      </p:sp>
    </p:spTree>
    <p:extLst>
      <p:ext uri="{BB962C8B-B14F-4D97-AF65-F5344CB8AC3E}">
        <p14:creationId xmlns:p14="http://schemas.microsoft.com/office/powerpoint/2010/main" val="1783517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high-level objectives</a:t>
            </a:r>
            <a:endParaRPr lang="en-US" dirty="0"/>
          </a:p>
        </p:txBody>
      </p:sp>
      <p:sp>
        <p:nvSpPr>
          <p:cNvPr id="3" name="Content Placeholder 2"/>
          <p:cNvSpPr>
            <a:spLocks noGrp="1"/>
          </p:cNvSpPr>
          <p:nvPr>
            <p:ph idx="1"/>
          </p:nvPr>
        </p:nvSpPr>
        <p:spPr/>
        <p:txBody>
          <a:bodyPr/>
          <a:lstStyle/>
          <a:p>
            <a:r>
              <a:rPr lang="en-US" dirty="0" smtClean="0"/>
              <a:t>low-level HW implementation (</a:t>
            </a:r>
            <a:r>
              <a:rPr lang="en-US" dirty="0" err="1" smtClean="0"/>
              <a:t>RPi</a:t>
            </a:r>
            <a:r>
              <a:rPr lang="en-US" dirty="0" smtClean="0"/>
              <a:t>, sensors </a:t>
            </a:r>
            <a:r>
              <a:rPr lang="en-US" dirty="0" err="1" smtClean="0"/>
              <a:t>etc</a:t>
            </a:r>
            <a:r>
              <a:rPr lang="en-US" dirty="0" smtClean="0"/>
              <a:t>)</a:t>
            </a:r>
            <a:endParaRPr lang="en-US" dirty="0" smtClean="0"/>
          </a:p>
          <a:p>
            <a:r>
              <a:rPr lang="en-US" dirty="0" smtClean="0"/>
              <a:t>secure data storage (</a:t>
            </a:r>
            <a:r>
              <a:rPr lang="en-US" dirty="0" err="1" smtClean="0"/>
              <a:t>blockchain</a:t>
            </a:r>
            <a:r>
              <a:rPr lang="en-US" dirty="0" smtClean="0"/>
              <a:t>)</a:t>
            </a:r>
            <a:endParaRPr lang="en-US" dirty="0" smtClean="0"/>
          </a:p>
          <a:p>
            <a:r>
              <a:rPr lang="en-US" dirty="0" smtClean="0"/>
              <a:t>integrative nodes (smart contract design)</a:t>
            </a:r>
            <a:endParaRPr lang="en-US" dirty="0" smtClean="0"/>
          </a:p>
          <a:p>
            <a:r>
              <a:rPr lang="en-US" dirty="0" smtClean="0"/>
              <a:t>GUI user interface to visualize data (from the </a:t>
            </a:r>
            <a:r>
              <a:rPr lang="en-US" dirty="0" err="1" smtClean="0"/>
              <a:t>ethereum</a:t>
            </a:r>
            <a:r>
              <a:rPr lang="en-US" dirty="0" smtClean="0"/>
              <a:t> client)</a:t>
            </a:r>
            <a:endParaRPr lang="en-US" dirty="0" smtClean="0"/>
          </a:p>
        </p:txBody>
      </p:sp>
    </p:spTree>
    <p:extLst>
      <p:ext uri="{BB962C8B-B14F-4D97-AF65-F5344CB8AC3E}">
        <p14:creationId xmlns:p14="http://schemas.microsoft.com/office/powerpoint/2010/main" val="3257383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motivation/objectives</a:t>
            </a:r>
            <a:endParaRPr lang="en-US" dirty="0"/>
          </a:p>
        </p:txBody>
      </p:sp>
      <p:sp>
        <p:nvSpPr>
          <p:cNvPr id="3" name="Content Placeholder 2"/>
          <p:cNvSpPr>
            <a:spLocks noGrp="1"/>
          </p:cNvSpPr>
          <p:nvPr>
            <p:ph idx="1"/>
          </p:nvPr>
        </p:nvSpPr>
        <p:spPr/>
        <p:txBody>
          <a:bodyPr/>
          <a:lstStyle/>
          <a:p>
            <a:r>
              <a:rPr lang="en-US" dirty="0" smtClean="0"/>
              <a:t>auditing </a:t>
            </a:r>
            <a:r>
              <a:rPr lang="mr-IN" dirty="0" smtClean="0"/>
              <a:t>–</a:t>
            </a:r>
            <a:r>
              <a:rPr lang="en-US" dirty="0" smtClean="0"/>
              <a:t> post-Irma nursing home</a:t>
            </a:r>
          </a:p>
          <a:p>
            <a:r>
              <a:rPr lang="en-US" dirty="0" smtClean="0"/>
              <a:t>secure data storage (block)</a:t>
            </a:r>
          </a:p>
          <a:p>
            <a:r>
              <a:rPr lang="en-US" dirty="0" smtClean="0"/>
              <a:t>automated ”transactions” (data recording) amongst many nodes (temp sensors, </a:t>
            </a:r>
            <a:r>
              <a:rPr lang="en-US" dirty="0" err="1" smtClean="0"/>
              <a:t>e.g</a:t>
            </a:r>
            <a:r>
              <a:rPr lang="en-US" dirty="0" smtClean="0"/>
              <a:t>)</a:t>
            </a:r>
          </a:p>
          <a:p>
            <a:r>
              <a:rPr lang="en-US" dirty="0" smtClean="0"/>
              <a:t>transparent interface </a:t>
            </a:r>
          </a:p>
        </p:txBody>
      </p:sp>
    </p:spTree>
    <p:extLst>
      <p:ext uri="{BB962C8B-B14F-4D97-AF65-F5344CB8AC3E}">
        <p14:creationId xmlns:p14="http://schemas.microsoft.com/office/powerpoint/2010/main" val="15811370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4304" y="2697507"/>
            <a:ext cx="9220199" cy="1325563"/>
          </a:xfrm>
        </p:spPr>
        <p:txBody>
          <a:bodyPr/>
          <a:lstStyle/>
          <a:p>
            <a:r>
              <a:rPr lang="en-US" dirty="0" smtClean="0"/>
              <a:t>ETH + </a:t>
            </a:r>
            <a:r>
              <a:rPr lang="en-US" dirty="0" err="1" smtClean="0"/>
              <a:t>blockchain</a:t>
            </a:r>
            <a:r>
              <a:rPr lang="en-US" dirty="0" smtClean="0"/>
              <a:t> + smart contracts 101</a:t>
            </a:r>
            <a:endParaRPr lang="en-US" dirty="0"/>
          </a:p>
        </p:txBody>
      </p:sp>
    </p:spTree>
    <p:extLst>
      <p:ext uri="{BB962C8B-B14F-4D97-AF65-F5344CB8AC3E}">
        <p14:creationId xmlns:p14="http://schemas.microsoft.com/office/powerpoint/2010/main" val="6521162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1221" y="798805"/>
            <a:ext cx="11289559" cy="5927018"/>
          </a:xfrm>
        </p:spPr>
      </p:pic>
      <p:sp>
        <p:nvSpPr>
          <p:cNvPr id="2" name="Title 1"/>
          <p:cNvSpPr>
            <a:spLocks noGrp="1"/>
          </p:cNvSpPr>
          <p:nvPr>
            <p:ph type="title"/>
          </p:nvPr>
        </p:nvSpPr>
        <p:spPr>
          <a:xfrm>
            <a:off x="838201" y="0"/>
            <a:ext cx="10515600" cy="1325563"/>
          </a:xfrm>
        </p:spPr>
        <p:txBody>
          <a:bodyPr/>
          <a:lstStyle/>
          <a:p>
            <a:r>
              <a:rPr lang="en-US" dirty="0" err="1" smtClean="0"/>
              <a:t>blockchain</a:t>
            </a:r>
            <a:endParaRPr lang="en-US" dirty="0"/>
          </a:p>
        </p:txBody>
      </p:sp>
      <p:sp>
        <p:nvSpPr>
          <p:cNvPr id="7" name="Rectangle 6"/>
          <p:cNvSpPr/>
          <p:nvPr/>
        </p:nvSpPr>
        <p:spPr>
          <a:xfrm>
            <a:off x="291547" y="1219200"/>
            <a:ext cx="2120348" cy="2040835"/>
          </a:xfrm>
          <a:prstGeom prst="rect">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Rectangle 7"/>
          <p:cNvSpPr/>
          <p:nvPr/>
        </p:nvSpPr>
        <p:spPr>
          <a:xfrm>
            <a:off x="2292627" y="964439"/>
            <a:ext cx="3379304" cy="2944951"/>
          </a:xfrm>
          <a:prstGeom prst="rect">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9" name="Rectangle 8"/>
          <p:cNvSpPr/>
          <p:nvPr/>
        </p:nvSpPr>
        <p:spPr>
          <a:xfrm>
            <a:off x="5141843" y="1219200"/>
            <a:ext cx="5009322" cy="1673276"/>
          </a:xfrm>
          <a:prstGeom prst="rect">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0" name="Rectangle 9"/>
          <p:cNvSpPr/>
          <p:nvPr/>
        </p:nvSpPr>
        <p:spPr>
          <a:xfrm>
            <a:off x="2729948" y="4075024"/>
            <a:ext cx="5499651" cy="1875202"/>
          </a:xfrm>
          <a:prstGeom prst="rect">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1" name="Rectangle 10"/>
          <p:cNvSpPr/>
          <p:nvPr/>
        </p:nvSpPr>
        <p:spPr>
          <a:xfrm>
            <a:off x="596349" y="3950861"/>
            <a:ext cx="1510747" cy="1875202"/>
          </a:xfrm>
          <a:prstGeom prst="rect">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Tree>
    <p:extLst>
      <p:ext uri="{BB962C8B-B14F-4D97-AF65-F5344CB8AC3E}">
        <p14:creationId xmlns:p14="http://schemas.microsoft.com/office/powerpoint/2010/main" val="1889048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0"/>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6" presetClass="exit" presetSubtype="21" fill="hold" grpId="1" nodeType="clickEffect">
                                  <p:stCondLst>
                                    <p:cond delay="0"/>
                                  </p:stCondLst>
                                  <p:childTnLst>
                                    <p:animEffect transition="out" filter="barn(inVertical)">
                                      <p:cBhvr>
                                        <p:cTn id="42" dur="500"/>
                                        <p:tgtEl>
                                          <p:spTgt spid="11"/>
                                        </p:tgtEl>
                                      </p:cBhvr>
                                    </p:animEffect>
                                    <p:set>
                                      <p:cBhvr>
                                        <p:cTn id="43"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P spid="10" grpId="0" animBg="1"/>
      <p:bldP spid="10" grpId="1" animBg="1"/>
      <p:bldP spid="11" grpId="0" animBg="1"/>
      <p:bldP spid="11"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ethereum</a:t>
            </a:r>
            <a:endParaRPr lang="en-US" dirty="0"/>
          </a:p>
        </p:txBody>
      </p:sp>
      <p:sp>
        <p:nvSpPr>
          <p:cNvPr id="3" name="Content Placeholder 2"/>
          <p:cNvSpPr>
            <a:spLocks noGrp="1"/>
          </p:cNvSpPr>
          <p:nvPr>
            <p:ph idx="1"/>
          </p:nvPr>
        </p:nvSpPr>
        <p:spPr/>
        <p:txBody>
          <a:bodyPr>
            <a:normAutofit fontScale="92500" lnSpcReduction="10000"/>
          </a:bodyPr>
          <a:lstStyle/>
          <a:p>
            <a:r>
              <a:rPr lang="en-US" b="1" dirty="0" err="1"/>
              <a:t>ethereum</a:t>
            </a:r>
            <a:r>
              <a:rPr lang="en-US" dirty="0"/>
              <a:t> aims to function both as a kind of decentralized internet and a decentralized app </a:t>
            </a:r>
            <a:r>
              <a:rPr lang="en-US" dirty="0" smtClean="0"/>
              <a:t>store (we’ll be making a </a:t>
            </a:r>
            <a:r>
              <a:rPr lang="en-US" dirty="0" err="1" smtClean="0"/>
              <a:t>Dapp</a:t>
            </a:r>
            <a:r>
              <a:rPr lang="en-US" dirty="0" smtClean="0"/>
              <a:t>)</a:t>
            </a:r>
          </a:p>
          <a:p>
            <a:r>
              <a:rPr lang="en-US" dirty="0" smtClean="0"/>
              <a:t>One </a:t>
            </a:r>
            <a:r>
              <a:rPr lang="en-US" b="1" dirty="0" smtClean="0"/>
              <a:t>ether</a:t>
            </a:r>
            <a:r>
              <a:rPr lang="en-US" dirty="0" smtClean="0"/>
              <a:t> or </a:t>
            </a:r>
            <a:r>
              <a:rPr lang="en-US" b="1" dirty="0" smtClean="0"/>
              <a:t>ETC</a:t>
            </a:r>
            <a:r>
              <a:rPr lang="en-US" dirty="0" smtClean="0"/>
              <a:t> = $1,121.17 USD (as of 1.27.18)</a:t>
            </a:r>
          </a:p>
          <a:p>
            <a:r>
              <a:rPr lang="en-US" b="1" dirty="0" smtClean="0"/>
              <a:t>EVM</a:t>
            </a:r>
            <a:r>
              <a:rPr lang="en-US" dirty="0" smtClean="0"/>
              <a:t> (</a:t>
            </a:r>
            <a:r>
              <a:rPr lang="en-US" dirty="0" err="1"/>
              <a:t>Ethereum</a:t>
            </a:r>
            <a:r>
              <a:rPr lang="en-US" dirty="0"/>
              <a:t> Virtual Machine</a:t>
            </a:r>
            <a:r>
              <a:rPr lang="en-US" dirty="0" smtClean="0"/>
              <a:t>) </a:t>
            </a:r>
            <a:r>
              <a:rPr lang="en-US" dirty="0"/>
              <a:t>is an environment where arbitrary code of smart contracts and other operations can be executed</a:t>
            </a:r>
            <a:r>
              <a:rPr lang="en-US" dirty="0" smtClean="0"/>
              <a:t>.</a:t>
            </a:r>
          </a:p>
          <a:p>
            <a:r>
              <a:rPr lang="en-US" dirty="0"/>
              <a:t>All transactions, from simple transfers to ICO smart contracts, require some amount of operations to perform. </a:t>
            </a:r>
            <a:r>
              <a:rPr lang="en-US" dirty="0" smtClean="0"/>
              <a:t>operations </a:t>
            </a:r>
            <a:r>
              <a:rPr lang="en-US" dirty="0"/>
              <a:t>has an associated cost in </a:t>
            </a:r>
            <a:r>
              <a:rPr lang="en-US" b="1" dirty="0"/>
              <a:t>gas</a:t>
            </a:r>
            <a:r>
              <a:rPr lang="en-US" dirty="0" smtClean="0"/>
              <a:t>.</a:t>
            </a:r>
          </a:p>
          <a:p>
            <a:pPr lvl="1"/>
            <a:r>
              <a:rPr lang="en-US" sz="2800" dirty="0" smtClean="0"/>
              <a:t>difference operations require more or less gas</a:t>
            </a:r>
          </a:p>
          <a:p>
            <a:pPr lvl="1"/>
            <a:r>
              <a:rPr lang="en-US" sz="2800" dirty="0" err="1" smtClean="0"/>
              <a:t>ie</a:t>
            </a:r>
            <a:r>
              <a:rPr lang="en-US" sz="2800" dirty="0" smtClean="0"/>
              <a:t> operation if(</a:t>
            </a:r>
            <a:r>
              <a:rPr lang="en-US" sz="2800" dirty="0" err="1" smtClean="0"/>
              <a:t>var</a:t>
            </a:r>
            <a:r>
              <a:rPr lang="en-US" sz="2800" dirty="0" smtClean="0"/>
              <a:t>  &gt; 1) may cost 1 gas, but a more complex operation (smart contract pay out) could cost 100 gas</a:t>
            </a:r>
          </a:p>
          <a:p>
            <a:pPr lvl="1"/>
            <a:r>
              <a:rPr lang="en-US" sz="2800" dirty="0" smtClean="0">
                <a:hlinkClick r:id="rId2"/>
              </a:rPr>
              <a:t>https://ethgasstation.info/</a:t>
            </a:r>
            <a:endParaRPr lang="en-US" sz="2800" dirty="0" smtClean="0"/>
          </a:p>
          <a:p>
            <a:endParaRPr lang="en-US" dirty="0"/>
          </a:p>
        </p:txBody>
      </p:sp>
    </p:spTree>
    <p:extLst>
      <p:ext uri="{BB962C8B-B14F-4D97-AF65-F5344CB8AC3E}">
        <p14:creationId xmlns:p14="http://schemas.microsoft.com/office/powerpoint/2010/main" val="11627178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smart contracts</a:t>
            </a:r>
            <a:endParaRPr lang="en-US" dirty="0"/>
          </a:p>
        </p:txBody>
      </p:sp>
      <p:sp>
        <p:nvSpPr>
          <p:cNvPr id="3" name="Content Placeholder 2"/>
          <p:cNvSpPr>
            <a:spLocks noGrp="1"/>
          </p:cNvSpPr>
          <p:nvPr>
            <p:ph idx="1"/>
          </p:nvPr>
        </p:nvSpPr>
        <p:spPr/>
        <p:txBody>
          <a:bodyPr/>
          <a:lstStyle/>
          <a:p>
            <a:r>
              <a:rPr lang="en-US" b="1" dirty="0" smtClean="0"/>
              <a:t>not new</a:t>
            </a:r>
            <a:r>
              <a:rPr lang="mr-IN" dirty="0" smtClean="0"/>
              <a:t>…</a:t>
            </a:r>
            <a:r>
              <a:rPr lang="en-US" dirty="0" smtClean="0"/>
              <a:t>First </a:t>
            </a:r>
            <a:r>
              <a:rPr lang="en-US" dirty="0"/>
              <a:t>conceived in 1993, the idea was originally described by computer scientist and cryptographer Nick Szabo as a </a:t>
            </a:r>
            <a:r>
              <a:rPr lang="en-US" dirty="0" smtClean="0"/>
              <a:t>digital </a:t>
            </a:r>
            <a:r>
              <a:rPr lang="en-US" dirty="0"/>
              <a:t>vending </a:t>
            </a:r>
            <a:r>
              <a:rPr lang="en-US" dirty="0" smtClean="0"/>
              <a:t>machine</a:t>
            </a:r>
            <a:endParaRPr lang="en-US" dirty="0" smtClean="0"/>
          </a:p>
          <a:p>
            <a:r>
              <a:rPr lang="en-US" dirty="0" smtClean="0"/>
              <a:t>Coded in the Turing-complete language, Solidity</a:t>
            </a:r>
          </a:p>
          <a:p>
            <a:r>
              <a:rPr lang="en-US" dirty="0"/>
              <a:t>Once the code is written, it is uploaded on the EVM- Ethereum Virtual </a:t>
            </a:r>
            <a:r>
              <a:rPr lang="en-US" dirty="0" smtClean="0"/>
              <a:t>Machine</a:t>
            </a:r>
          </a:p>
          <a:p>
            <a:r>
              <a:rPr lang="en-US" dirty="0"/>
              <a:t>Developers can create applications that run on the EVM using friendly programming languages modelled on existing languages like JavaScript and Python.</a:t>
            </a:r>
          </a:p>
        </p:txBody>
      </p:sp>
    </p:spTree>
    <p:extLst>
      <p:ext uri="{BB962C8B-B14F-4D97-AF65-F5344CB8AC3E}">
        <p14:creationId xmlns:p14="http://schemas.microsoft.com/office/powerpoint/2010/main" val="12085955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IoT</a:t>
            </a:r>
            <a:r>
              <a:rPr lang="en-US" dirty="0" smtClean="0"/>
              <a:t> + </a:t>
            </a:r>
            <a:r>
              <a:rPr lang="en-US" dirty="0" err="1" smtClean="0"/>
              <a:t>blockchain</a:t>
            </a:r>
            <a:endParaRPr lang="en-US" dirty="0"/>
          </a:p>
        </p:txBody>
      </p:sp>
      <p:sp>
        <p:nvSpPr>
          <p:cNvPr id="3" name="Content Placeholder 2"/>
          <p:cNvSpPr>
            <a:spLocks noGrp="1"/>
          </p:cNvSpPr>
          <p:nvPr>
            <p:ph idx="1"/>
          </p:nvPr>
        </p:nvSpPr>
        <p:spPr/>
        <p:txBody>
          <a:bodyPr/>
          <a:lstStyle/>
          <a:p>
            <a:r>
              <a:rPr lang="en-US" dirty="0" smtClean="0"/>
              <a:t>configure RPi3 as an </a:t>
            </a:r>
            <a:r>
              <a:rPr lang="en-US" dirty="0" err="1" smtClean="0"/>
              <a:t>ethereum</a:t>
            </a:r>
            <a:r>
              <a:rPr lang="en-US" dirty="0" smtClean="0"/>
              <a:t> node</a:t>
            </a:r>
          </a:p>
          <a:p>
            <a:r>
              <a:rPr lang="en-US" dirty="0" smtClean="0">
                <a:hlinkClick r:id="rId2"/>
              </a:rPr>
              <a:t>http://chainskills.com/2017/02/24/create-a-private-ethereum-blockchain-with-iot-devices-16/</a:t>
            </a:r>
            <a:endParaRPr lang="en-US" dirty="0" smtClean="0"/>
          </a:p>
          <a:p>
            <a:pPr lvl="1"/>
            <a:r>
              <a:rPr lang="en-US" dirty="0" smtClean="0"/>
              <a:t>Once </a:t>
            </a:r>
            <a:r>
              <a:rPr lang="en-US" dirty="0" err="1" smtClean="0"/>
              <a:t>Ethereum</a:t>
            </a:r>
            <a:r>
              <a:rPr lang="en-US" dirty="0" smtClean="0"/>
              <a:t> </a:t>
            </a:r>
            <a:r>
              <a:rPr lang="en-US" dirty="0"/>
              <a:t>is installed on </a:t>
            </a:r>
            <a:r>
              <a:rPr lang="en-US" dirty="0" smtClean="0"/>
              <a:t>the </a:t>
            </a:r>
            <a:r>
              <a:rPr lang="en-US" dirty="0" err="1" smtClean="0"/>
              <a:t>RPi</a:t>
            </a:r>
            <a:r>
              <a:rPr lang="en-US" dirty="0" smtClean="0"/>
              <a:t> its able </a:t>
            </a:r>
            <a:r>
              <a:rPr lang="en-US" dirty="0"/>
              <a:t>to </a:t>
            </a:r>
            <a:r>
              <a:rPr lang="en-US" dirty="0" err="1"/>
              <a:t>synchronise</a:t>
            </a:r>
            <a:r>
              <a:rPr lang="en-US" dirty="0"/>
              <a:t> with the live chain (</a:t>
            </a:r>
            <a:r>
              <a:rPr lang="en-US" dirty="0" err="1"/>
              <a:t>mainnet</a:t>
            </a:r>
            <a:r>
              <a:rPr lang="en-US" dirty="0" smtClean="0"/>
              <a:t>)</a:t>
            </a:r>
            <a:endParaRPr lang="en-US" dirty="0"/>
          </a:p>
          <a:p>
            <a:pPr lvl="1"/>
            <a:r>
              <a:rPr lang="en-US" dirty="0"/>
              <a:t>The </a:t>
            </a:r>
            <a:r>
              <a:rPr lang="en-US" dirty="0" err="1"/>
              <a:t>blockchain</a:t>
            </a:r>
            <a:r>
              <a:rPr lang="en-US" dirty="0"/>
              <a:t> data (</a:t>
            </a:r>
            <a:r>
              <a:rPr lang="en-US" b="1" dirty="0" err="1"/>
              <a:t>chaindata</a:t>
            </a:r>
            <a:r>
              <a:rPr lang="en-US" dirty="0"/>
              <a:t>) is located </a:t>
            </a:r>
            <a:r>
              <a:rPr lang="en-US" dirty="0" smtClean="0"/>
              <a:t>at</a:t>
            </a:r>
            <a:r>
              <a:rPr lang="en-US" dirty="0"/>
              <a:t> </a:t>
            </a:r>
            <a:r>
              <a:rPr lang="en-US" b="1" dirty="0"/>
              <a:t>~/.</a:t>
            </a:r>
            <a:r>
              <a:rPr lang="en-US" b="1" dirty="0" err="1"/>
              <a:t>ethereum</a:t>
            </a:r>
            <a:r>
              <a:rPr lang="en-US" b="1" dirty="0"/>
              <a:t>/</a:t>
            </a:r>
            <a:r>
              <a:rPr lang="en-US" b="1" dirty="0" err="1"/>
              <a:t>chaindata</a:t>
            </a:r>
            <a:endParaRPr lang="en-US" dirty="0"/>
          </a:p>
          <a:p>
            <a:pPr lvl="1"/>
            <a:r>
              <a:rPr lang="en-US" dirty="0"/>
              <a:t>A</a:t>
            </a:r>
            <a:r>
              <a:rPr lang="en-US" dirty="0" smtClean="0"/>
              <a:t>ccounts </a:t>
            </a:r>
            <a:r>
              <a:rPr lang="en-US" dirty="0"/>
              <a:t>will be stored in a </a:t>
            </a:r>
            <a:r>
              <a:rPr lang="en-US" b="1" dirty="0"/>
              <a:t>wallet</a:t>
            </a:r>
            <a:r>
              <a:rPr lang="en-US" dirty="0"/>
              <a:t> located in this folder: </a:t>
            </a:r>
            <a:r>
              <a:rPr lang="en-US" b="1" dirty="0"/>
              <a:t>~/.</a:t>
            </a:r>
            <a:r>
              <a:rPr lang="en-US" b="1" dirty="0" err="1" smtClean="0"/>
              <a:t>ethereum</a:t>
            </a:r>
            <a:r>
              <a:rPr lang="en-US" b="1" dirty="0" smtClean="0"/>
              <a:t>/</a:t>
            </a:r>
            <a:r>
              <a:rPr lang="en-US" b="1" dirty="0" err="1" smtClean="0"/>
              <a:t>keystore</a:t>
            </a:r>
            <a:endParaRPr lang="en-US" dirty="0" smtClean="0"/>
          </a:p>
          <a:p>
            <a:endParaRPr lang="en-US" dirty="0"/>
          </a:p>
        </p:txBody>
      </p:sp>
    </p:spTree>
    <p:extLst>
      <p:ext uri="{BB962C8B-B14F-4D97-AF65-F5344CB8AC3E}">
        <p14:creationId xmlns:p14="http://schemas.microsoft.com/office/powerpoint/2010/main" val="647052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rough timeline</a:t>
            </a:r>
            <a:endParaRPr lang="en-US" dirty="0"/>
          </a:p>
        </p:txBody>
      </p:sp>
      <p:sp>
        <p:nvSpPr>
          <p:cNvPr id="3" name="Content Placeholder 2"/>
          <p:cNvSpPr>
            <a:spLocks noGrp="1"/>
          </p:cNvSpPr>
          <p:nvPr>
            <p:ph idx="1"/>
          </p:nvPr>
        </p:nvSpPr>
        <p:spPr/>
        <p:txBody>
          <a:bodyPr/>
          <a:lstStyle/>
          <a:p>
            <a:r>
              <a:rPr lang="en-US" b="1" dirty="0" smtClean="0"/>
              <a:t>Feb 7 </a:t>
            </a:r>
            <a:r>
              <a:rPr lang="mr-IN" dirty="0" smtClean="0"/>
              <a:t>–</a:t>
            </a:r>
            <a:r>
              <a:rPr lang="en-US" dirty="0" smtClean="0"/>
              <a:t> set up </a:t>
            </a:r>
            <a:r>
              <a:rPr lang="en-US" dirty="0" err="1" smtClean="0"/>
              <a:t>RPi</a:t>
            </a:r>
            <a:r>
              <a:rPr lang="en-US" dirty="0" smtClean="0"/>
              <a:t> </a:t>
            </a:r>
            <a:r>
              <a:rPr lang="en-US" dirty="0" err="1" smtClean="0"/>
              <a:t>Ethereum</a:t>
            </a:r>
            <a:r>
              <a:rPr lang="en-US" dirty="0" smtClean="0"/>
              <a:t> nodes</a:t>
            </a:r>
          </a:p>
          <a:p>
            <a:r>
              <a:rPr lang="en-US" b="1" dirty="0" smtClean="0"/>
              <a:t>Feb 4</a:t>
            </a:r>
            <a:r>
              <a:rPr lang="en-US" dirty="0" smtClean="0"/>
              <a:t> - smart contract for data exchange</a:t>
            </a:r>
            <a:endParaRPr lang="en-US" dirty="0" smtClean="0"/>
          </a:p>
          <a:p>
            <a:r>
              <a:rPr lang="en-US" b="1" dirty="0" smtClean="0"/>
              <a:t>March </a:t>
            </a:r>
            <a:r>
              <a:rPr lang="en-US" b="1" dirty="0" smtClean="0"/>
              <a:t>15 </a:t>
            </a:r>
            <a:r>
              <a:rPr lang="mr-IN" dirty="0" smtClean="0"/>
              <a:t>–</a:t>
            </a:r>
            <a:r>
              <a:rPr lang="en-US" dirty="0" smtClean="0"/>
              <a:t> OURI Funding Packet Due</a:t>
            </a:r>
          </a:p>
          <a:p>
            <a:pPr lvl="1"/>
            <a:r>
              <a:rPr lang="en-US" dirty="0" smtClean="0"/>
              <a:t>Conferences, hackathons, more </a:t>
            </a:r>
            <a:r>
              <a:rPr lang="en-US" dirty="0" smtClean="0"/>
              <a:t>hardware</a:t>
            </a:r>
          </a:p>
          <a:p>
            <a:r>
              <a:rPr lang="en-US" b="1" dirty="0"/>
              <a:t>M</a:t>
            </a:r>
            <a:r>
              <a:rPr lang="en-US" b="1" dirty="0" smtClean="0"/>
              <a:t>arch 26 </a:t>
            </a:r>
            <a:r>
              <a:rPr lang="mr-IN" dirty="0" smtClean="0"/>
              <a:t>–</a:t>
            </a:r>
            <a:r>
              <a:rPr lang="en-US" dirty="0" smtClean="0"/>
              <a:t> (Poster) Ext Abstract Due: EU Conference on Networks &amp; Communications</a:t>
            </a:r>
          </a:p>
          <a:p>
            <a:pPr lvl="1"/>
            <a:r>
              <a:rPr lang="en-US" dirty="0" smtClean="0"/>
              <a:t>June 18-21, 2018</a:t>
            </a:r>
          </a:p>
          <a:p>
            <a:pPr lvl="1"/>
            <a:r>
              <a:rPr lang="en-US" dirty="0" smtClean="0"/>
              <a:t>Ljubljana, Slovenia</a:t>
            </a:r>
          </a:p>
          <a:p>
            <a:pPr lvl="2"/>
            <a:r>
              <a:rPr lang="en-US" b="1" dirty="0"/>
              <a:t>2018 Mar. 23 – </a:t>
            </a:r>
            <a:r>
              <a:rPr lang="en-US" dirty="0"/>
              <a:t>Deadline for submission of Travel Grant applications</a:t>
            </a:r>
          </a:p>
          <a:p>
            <a:pPr lvl="2"/>
            <a:endParaRPr lang="en-US" dirty="0" smtClean="0"/>
          </a:p>
          <a:p>
            <a:endParaRPr lang="en-US" dirty="0" smtClean="0"/>
          </a:p>
        </p:txBody>
      </p:sp>
    </p:spTree>
    <p:extLst>
      <p:ext uri="{BB962C8B-B14F-4D97-AF65-F5344CB8AC3E}">
        <p14:creationId xmlns:p14="http://schemas.microsoft.com/office/powerpoint/2010/main" val="2102278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deliverables/anticipated outcomes</a:t>
            </a:r>
            <a:endParaRPr lang="en-US" dirty="0"/>
          </a:p>
        </p:txBody>
      </p:sp>
      <p:sp>
        <p:nvSpPr>
          <p:cNvPr id="3" name="Content Placeholder 2"/>
          <p:cNvSpPr>
            <a:spLocks noGrp="1"/>
          </p:cNvSpPr>
          <p:nvPr>
            <p:ph idx="1"/>
          </p:nvPr>
        </p:nvSpPr>
        <p:spPr/>
        <p:txBody>
          <a:bodyPr/>
          <a:lstStyle/>
          <a:p>
            <a:r>
              <a:rPr lang="en-US" dirty="0" smtClean="0"/>
              <a:t>network of communicating nodes (</a:t>
            </a:r>
            <a:r>
              <a:rPr lang="en-US" dirty="0" err="1" smtClean="0"/>
              <a:t>RPi</a:t>
            </a:r>
            <a:r>
              <a:rPr lang="en-US" dirty="0" smtClean="0"/>
              <a:t>) on the </a:t>
            </a:r>
            <a:r>
              <a:rPr lang="en-US" dirty="0" err="1" smtClean="0"/>
              <a:t>ethereum</a:t>
            </a:r>
            <a:r>
              <a:rPr lang="en-US" dirty="0" smtClean="0"/>
              <a:t> </a:t>
            </a:r>
            <a:r>
              <a:rPr lang="en-US" dirty="0" err="1" smtClean="0"/>
              <a:t>blockchain</a:t>
            </a:r>
            <a:endParaRPr lang="en-US" dirty="0" smtClean="0"/>
          </a:p>
          <a:p>
            <a:r>
              <a:rPr lang="en-US" dirty="0" smtClean="0"/>
              <a:t>built like an API layer for current implementations of data-collecting sensors</a:t>
            </a:r>
          </a:p>
          <a:p>
            <a:r>
              <a:rPr lang="en-US" dirty="0" smtClean="0"/>
              <a:t>(2) main smart contracts (for now)</a:t>
            </a:r>
          </a:p>
          <a:p>
            <a:pPr lvl="1"/>
            <a:r>
              <a:rPr lang="en-US" dirty="0" smtClean="0"/>
              <a:t>define how each node in the network publishes data to the </a:t>
            </a:r>
            <a:r>
              <a:rPr lang="en-US" dirty="0" err="1" smtClean="0"/>
              <a:t>blockchain</a:t>
            </a:r>
            <a:r>
              <a:rPr lang="en-US" dirty="0" smtClean="0"/>
              <a:t> (physical parameters, </a:t>
            </a:r>
            <a:r>
              <a:rPr lang="en-US" dirty="0" err="1" smtClean="0"/>
              <a:t>etc</a:t>
            </a:r>
            <a:r>
              <a:rPr lang="en-US" dirty="0" smtClean="0"/>
              <a:t>)</a:t>
            </a:r>
            <a:endParaRPr lang="en-US" dirty="0"/>
          </a:p>
          <a:p>
            <a:pPr lvl="1"/>
            <a:r>
              <a:rPr lang="en-US" dirty="0" smtClean="0"/>
              <a:t>define how each node ”confirms” &amp; secures the data written previously</a:t>
            </a:r>
          </a:p>
          <a:p>
            <a:pPr lvl="1"/>
            <a:r>
              <a:rPr lang="en-US" dirty="0" smtClean="0"/>
              <a:t>are nodes the miners?</a:t>
            </a:r>
          </a:p>
        </p:txBody>
      </p:sp>
    </p:spTree>
    <p:extLst>
      <p:ext uri="{BB962C8B-B14F-4D97-AF65-F5344CB8AC3E}">
        <p14:creationId xmlns:p14="http://schemas.microsoft.com/office/powerpoint/2010/main" val="7220312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2486</TotalTime>
  <Words>624</Words>
  <Application>Microsoft Macintosh PowerPoint</Application>
  <PresentationFormat>Widescreen</PresentationFormat>
  <Paragraphs>63</Paragraphs>
  <Slides>10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Calibri</vt:lpstr>
      <vt:lpstr>Calibri Light</vt:lpstr>
      <vt:lpstr>Mangal</vt:lpstr>
      <vt:lpstr>Arial</vt:lpstr>
      <vt:lpstr>Office Theme</vt:lpstr>
      <vt:lpstr>IoT + Smart Contracts(Eth)</vt:lpstr>
      <vt:lpstr>high-level objectives</vt:lpstr>
      <vt:lpstr>project motivation/objectives</vt:lpstr>
      <vt:lpstr>ETH + blockchain + smart contracts 101</vt:lpstr>
      <vt:lpstr>blockchain</vt:lpstr>
      <vt:lpstr>ethereum</vt:lpstr>
      <vt:lpstr>smart contracts</vt:lpstr>
      <vt:lpstr>IoT + blockchain</vt:lpstr>
      <vt:lpstr>rough timeline</vt:lpstr>
      <vt:lpstr>deliverables/anticipated outcomes</vt:lpstr>
    </vt:vector>
  </TitlesOfParts>
  <Company/>
  <LinksUpToDate>false</LinksUpToDate>
  <SharedDoc>false</SharedDoc>
  <HyperlinksChanged>false</HyperlinksChanged>
  <AppVersion>15.0024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 Smart Contracts(Eth)</dc:title>
  <dc:creator>Oceane Boulais</dc:creator>
  <cp:lastModifiedBy>Oceane Boulais</cp:lastModifiedBy>
  <cp:revision>17</cp:revision>
  <dcterms:created xsi:type="dcterms:W3CDTF">2018-01-27T23:17:56Z</dcterms:created>
  <dcterms:modified xsi:type="dcterms:W3CDTF">2018-01-29T17:54:09Z</dcterms:modified>
</cp:coreProperties>
</file>